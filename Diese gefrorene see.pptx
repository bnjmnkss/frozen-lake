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CC05D6E-E217-4F37-A52B-851C280F2EF5}">
  <a:tblStyle styleId="{FCC05D6E-E217-4F37-A52B-851C280F2E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0aa67f74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0aa67f74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ein zugefrorener see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0aa67f74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60aa67f74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ein agent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aa67f74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aa67f74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der agent will zum geschenk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position immer oben links und unten rechts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0aa67f74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0aa67f74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aber gibt löcher in die der agent nicht reinfallen darf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0aa67f74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0aa67f74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kann in alle 4 richtungen laufen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wenn gegen wand dann passiert nix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0aa67f74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0aa67f74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zustände sind die einzelnen positionen in denen sich der agent zu einem zeitpunkt befinden kann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zustände sind nach position nummeriert 0-15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0aa67f748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60aa67f748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zustände sind die einzelnen positionen in denen sich der agent zu einem zeitpunkt befinden kann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zustände sind nach position nummeriert 0-15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0aa67f74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60aa67f74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0aa67f748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60aa67f74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ziel: auf zufälligen 8x8 lakes sicher das ziel erreichen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0aa67f748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60aa67f74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klein anfangen, deswegen erstmal normales q learning auf konstantem 4x4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is_slippery macht dass man zu einer kleinen chance in eine andere richtung geht als man eigentlich wollte → macht es nur schwerer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0aa67f748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60aa67f748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truncated = maximale schrittanzahl erreicht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terminated = ziel erreicht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60aa67f748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60aa67f74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update nach der formel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0aa67f748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60aa67f748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epsilon noch kleiner machen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aa67f748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aa67f748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0aa67f748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60aa67f748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am ende kein zufall mehr deswegen glatt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0aa67f748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60aa67f748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spalten = aktionen = links unten rechts oben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zeilen = zustände = tiles 0 - 15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60aa67f748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60aa67f748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spalten = aktionen = links unten rechts oben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zeilen = zustände = tiles 0 - 15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60aa67f748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60aa67f748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gleicher code wie bei 4x4 nur man nimmt 8x8 map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60aa67f748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60aa67f748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am anfang länger weniger reward als bei 4x4 → zufall braucht länger das erste mal ziel zu erreichen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60aa67f748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60aa67f748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0aa67f748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60aa67f748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60aa67f748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60aa67f748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aber erstmal auf konstantem lake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neuronales netz statt q tabelle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60aa67f748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60aa67f748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input features kommen wir gleich aber spoiler es sind 16 bei 4x4 und 64 bei 8x8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hl hat 64 neuronen bei 4x4 und 256 bei 8x8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des is einfach zur wiederverwendbarkeit im 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out actions = 4 = links unten rechts oben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relu als activation function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wichtig kein softmax, denn wir wollen die exakten q werte lernen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60aa67f748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60aa67f748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input feature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60aa67f748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60aa67f748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wieder env erstellen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und diesmal statt q tabelle policy und target net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diese dann gleich setzen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60aa67f748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60aa67f748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60aa67f748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60aa67f748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encoden und im buffer speichern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60aa67f748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60aa67f748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l2 loss und adam als optimizer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alle 50 schritte wird target net = policy net gesetzt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60aa67f748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60aa67f748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wieder epsilon kleiner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60aa67f748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60aa67f748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60aa67f748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60aa67f748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ziemlich schnell kein loss mehr → sehr schnell gelernt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60aa67f748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60aa67f748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ziemlich schnell kein loss mehr → sehr schnell gelernt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60aa67f748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60aa67f748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gleicher code nur größere map und größeres netz (64 inputs und 256 im hl)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braucht ein bisschen länger als 4x4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60aa67f748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60aa67f748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60aa67f748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60aa67f748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selber code wie vorhin aber einfach jede episode einen neuen lake erstellen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60aa67f74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60aa67f74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60aa67f748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60aa67f748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lernt schon etwas langsamer und tut sich am ende auch etwas schwerer konstant das ziel zu erreichen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60aa67f748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60aa67f748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durch trainieren auf zufälligen lakes schafft er auch zufällige lakes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60aa67f748_2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60aa67f748_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dann können wir doch jetzt einfach auf random 8x8 lakes trainieren oder?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60aa67f748_2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60aa67f748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60aa67f748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60aa67f748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auch nach mehrmals wiederholen selbes ergebnis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vllt einfach zu kurz trainiert?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innerhalb von 3000 episoden nur paar mal ziel erreicht, das reicht nicht um genug zu lernen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60aa67f748_2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60aa67f748_2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60aa67f748_2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60aa67f748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immernoch keine verbsserung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noch mehr?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300.000 episoden?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hab ich gemacht aber gleiches ergebnis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dauert viel zu lang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andere idee?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60aa67f748_2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60aa67f748_2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immernoch keine verbsserung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noch mehr?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300.000 episoden?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hab ich gemacht aber gleiches ergebnis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dauert viel zu lang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andere idee?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60aa67f748_2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60aa67f748_2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idee: reward funktion anpassen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er soll lernen löcher zu vermeiden → wahrscheinlicher, dass er das ziel erreicht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60aa67f748_2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60aa67f748_2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60aa67f748_2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60aa67f748_2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hää? wieder nix gelernt? warum?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60aa67f748_2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60aa67f748_2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anscheinend hat er gelernt löcher zu vermeiden, aber er truncated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60aa67f748_2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60aa67f748_2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x ist anzahl der schritte bisher</a:t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60aa67f748_2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60aa67f748_2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x ist anzahl der schritte bisher</a:t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60aa67f748_2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60aa67f748_2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x ist anzahl der schritte bisher</a:t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60aa67f748_2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60aa67f748_2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x ist anzahl der schritte bisher</a:t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60aa67f748_2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60aa67f748_2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x ist anzahl der schritte bisher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60aa67f748_2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60aa67f748_2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60aa67f748_2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60aa67f748_2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einfach nur umgedreht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er möchte nicht weit in den lake rein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→ problem: goal ist auf der anderen seite vom lake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wie bekommen wir den agenten dazu sich weiter in den see zu trauen?</a:t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60aa67f748_2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60aa67f748_2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idee: extra reward für nähe zum ziel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60aa67f748_2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60aa67f748_2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60aa67f748_2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60aa67f748_2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oh schon besser, er bekommt mehr reward jetzt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aber wenn man überlegt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extra reward am anfang = 0.1 ca und des *100 = 10</a:t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60aa67f748_2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60aa67f748_2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aber er geht nur bisschen und nimmt dann immer den extra reward mit und truncated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idee: extra reward gewichten/anpassen/rewards allgemein finetunen → ewig tiefes loch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andere idee muss her</a:t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60aa67f748_2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60aa67f748_2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idee: am anfang auf konstanten lakes trainieren bis er die gut kann und dann immer schneller wechseln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so lange bis jede episode neuer lake ist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aber hat auch nicht funktioniert: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die ersten hat er gelernt die letzten nicht mehr</a:t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60aa67f748_2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60aa67f748_2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tiefere modelle haben auch nicht funktioniert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andere sachen auch nicht</a:t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60aa67f748_2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360aa67f748_2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auch wieder nix gelernt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andere idee: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anderes state encoding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60aa67f748_2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360aa67f748_2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</a:rPr>
              <a:t>andere idee: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</a:rPr>
              <a:t>anderes state encoding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60aa67f748_2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60aa67f748_2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mit dem flachen input kann man nix erkennen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→ cnn verwenden</a:t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60aa67f748_2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360aa67f748_2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aufteilen in 4 layer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jeweils für loch, tile, agent und goal position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loch und tile redundant also bräuchte man nicht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alles schön übersichtlich und getrennt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das ganze halt jz auf 8x8 maps</a:t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60aa67f748_2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360aa67f748_2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60aa67f748_2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60aa67f748_2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60aa67f748_2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360aa67f748_2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60aa67f748_2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360aa67f748_2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60aa67f748_2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60aa67f748_2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5.png"/><Relationship Id="rId8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gif"/><Relationship Id="rId4" Type="http://schemas.openxmlformats.org/officeDocument/2006/relationships/image" Target="../media/image18.gif"/><Relationship Id="rId5" Type="http://schemas.openxmlformats.org/officeDocument/2006/relationships/image" Target="../media/image14.gif"/><Relationship Id="rId6" Type="http://schemas.openxmlformats.org/officeDocument/2006/relationships/image" Target="../media/image17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Relationship Id="rId4" Type="http://schemas.openxmlformats.org/officeDocument/2006/relationships/image" Target="../media/image15.gif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Relationship Id="rId4" Type="http://schemas.openxmlformats.org/officeDocument/2006/relationships/image" Target="../media/image24.gif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6.gif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8.gif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5.gif"/><Relationship Id="rId4" Type="http://schemas.openxmlformats.org/officeDocument/2006/relationships/image" Target="../media/image22.gif"/><Relationship Id="rId5" Type="http://schemas.openxmlformats.org/officeDocument/2006/relationships/image" Target="../media/image31.gif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3.gif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4.gif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5.gif"/><Relationship Id="rId4" Type="http://schemas.openxmlformats.org/officeDocument/2006/relationships/image" Target="../media/image32.gif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0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0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0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0.png"/><Relationship Id="rId4" Type="http://schemas.openxmlformats.org/officeDocument/2006/relationships/image" Target="../media/image3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8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3.gif"/><Relationship Id="rId4" Type="http://schemas.openxmlformats.org/officeDocument/2006/relationships/image" Target="../media/image36.gif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5.png"/><Relationship Id="rId4" Type="http://schemas.openxmlformats.org/officeDocument/2006/relationships/image" Target="../media/image11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1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50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1.gif"/><Relationship Id="rId4" Type="http://schemas.openxmlformats.org/officeDocument/2006/relationships/image" Target="../media/image18.gif"/><Relationship Id="rId5" Type="http://schemas.openxmlformats.org/officeDocument/2006/relationships/image" Target="../media/image14.gif"/><Relationship Id="rId6" Type="http://schemas.openxmlformats.org/officeDocument/2006/relationships/image" Target="../media/image17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Frozen Lake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/>
              <a:t>Benjamin Kass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Environment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0500" y="1319175"/>
            <a:ext cx="3083000" cy="308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Environment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0500" y="1319175"/>
            <a:ext cx="3083000" cy="308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0500" y="1319175"/>
            <a:ext cx="3083000" cy="308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Environment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0500" y="1319175"/>
            <a:ext cx="3083000" cy="308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0500" y="1319175"/>
            <a:ext cx="3083000" cy="308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0500" y="1319175"/>
            <a:ext cx="3083000" cy="308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Environment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0500" y="1319175"/>
            <a:ext cx="3083000" cy="308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0500" y="1319175"/>
            <a:ext cx="3083000" cy="308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0500" y="1319175"/>
            <a:ext cx="3083000" cy="308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30500" y="1319175"/>
            <a:ext cx="3083000" cy="308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Actions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0500" y="1319175"/>
            <a:ext cx="3083000" cy="308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8"/>
          <p:cNvSpPr/>
          <p:nvPr/>
        </p:nvSpPr>
        <p:spPr>
          <a:xfrm>
            <a:off x="3682525" y="1528275"/>
            <a:ext cx="315000" cy="33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/>
          <p:nvPr/>
        </p:nvSpPr>
        <p:spPr>
          <a:xfrm rot="5400000">
            <a:off x="3254850" y="1917000"/>
            <a:ext cx="315000" cy="33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/>
          <p:nvPr/>
        </p:nvSpPr>
        <p:spPr>
          <a:xfrm rot="10800000">
            <a:off x="2862950" y="1528275"/>
            <a:ext cx="315000" cy="33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/>
          <p:nvPr/>
        </p:nvSpPr>
        <p:spPr>
          <a:xfrm rot="-5400000">
            <a:off x="3254850" y="1141675"/>
            <a:ext cx="315000" cy="33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Zustände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600" y="1195450"/>
            <a:ext cx="1489900" cy="148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6413" y="974750"/>
            <a:ext cx="1489900" cy="148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5250" y="1017725"/>
            <a:ext cx="1489900" cy="148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28150" y="2863075"/>
            <a:ext cx="1489900" cy="148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56700" y="2863075"/>
            <a:ext cx="1489900" cy="148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Zustände</a:t>
            </a:r>
            <a:endParaRPr/>
          </a:p>
        </p:txBody>
      </p:sp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600" y="1195450"/>
            <a:ext cx="1489900" cy="148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4538" y="445025"/>
            <a:ext cx="1489900" cy="148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84800" y="814525"/>
            <a:ext cx="1489900" cy="148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51850" y="3040875"/>
            <a:ext cx="1489900" cy="148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35400" y="3380550"/>
            <a:ext cx="1489900" cy="148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130" name="Google Shape;130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47500" y="2190125"/>
            <a:ext cx="2440225" cy="244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Reward</a:t>
            </a:r>
            <a:endParaRPr/>
          </a:p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448750"/>
            <a:ext cx="152400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 txBox="1"/>
          <p:nvPr/>
        </p:nvSpPr>
        <p:spPr>
          <a:xfrm>
            <a:off x="1333500" y="2485850"/>
            <a:ext cx="13392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2"/>
                </a:solidFill>
              </a:rPr>
              <a:t>Reward =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2536625" y="1211700"/>
            <a:ext cx="7662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4400">
                <a:solidFill>
                  <a:schemeClr val="dk2"/>
                </a:solidFill>
              </a:rPr>
              <a:t>{</a:t>
            </a:r>
            <a:endParaRPr sz="14400">
              <a:solidFill>
                <a:schemeClr val="dk2"/>
              </a:solidFill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3331475" y="1983950"/>
            <a:ext cx="2127000" cy="19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2"/>
                </a:solidFill>
              </a:rPr>
              <a:t>1, wenn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2"/>
                </a:solidFill>
              </a:rPr>
              <a:t>0, sonst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1" name="Google Shape;14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Ziel</a:t>
            </a:r>
            <a:endParaRPr/>
          </a:p>
        </p:txBody>
      </p:sp>
      <p:pic>
        <p:nvPicPr>
          <p:cNvPr id="147" name="Google Shape;147;p22" title="dql_fixed_8x8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9726" y="531410"/>
            <a:ext cx="1815693" cy="1815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2" title="dql_fixed_8x8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6446" y="531410"/>
            <a:ext cx="1815693" cy="1815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2" title="dql_fixed_8x8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29726" y="2795336"/>
            <a:ext cx="1815693" cy="1815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2" title="dql_fixed_8x8.gi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96446" y="2795336"/>
            <a:ext cx="1815693" cy="181568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 txBox="1"/>
          <p:nvPr/>
        </p:nvSpPr>
        <p:spPr>
          <a:xfrm>
            <a:off x="2529150" y="529500"/>
            <a:ext cx="4085700" cy="40845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2" name="Google Shape;15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Q-Learning 4x4</a:t>
            </a:r>
            <a:endParaRPr/>
          </a:p>
        </p:txBody>
      </p:sp>
      <p:sp>
        <p:nvSpPr>
          <p:cNvPr id="158" name="Google Shape;158;p23"/>
          <p:cNvSpPr txBox="1"/>
          <p:nvPr>
            <p:ph idx="1" type="body"/>
          </p:nvPr>
        </p:nvSpPr>
        <p:spPr>
          <a:xfrm>
            <a:off x="973350" y="1886100"/>
            <a:ext cx="7197300" cy="1371300"/>
          </a:xfrm>
          <a:prstGeom prst="rect">
            <a:avLst/>
          </a:prstGeom>
          <a:solidFill>
            <a:srgbClr val="EFEFE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00800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# environment erstellen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env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gym.make(</a:t>
            </a:r>
            <a:r>
              <a:rPr lang="de" sz="1050">
                <a:solidFill>
                  <a:srgbClr val="A31515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"FrozenLake-v1"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map_name=</a:t>
            </a:r>
            <a:r>
              <a:rPr lang="de" sz="1050">
                <a:solidFill>
                  <a:srgbClr val="A31515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'4x4'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e" sz="1050">
                <a:solidFill>
                  <a:srgbClr val="A31515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is_slippery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render_mode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50">
                <a:solidFill>
                  <a:srgbClr val="00800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# leere q table initialisieren</a:t>
            </a:r>
            <a:endParaRPr sz="1050">
              <a:solidFill>
                <a:srgbClr val="008000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q_table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np.zeros((env.observation_space.n, env.action_space.n))</a:t>
            </a:r>
            <a:endParaRPr>
              <a:highlight>
                <a:srgbClr val="EFEFEF"/>
              </a:highlight>
            </a:endParaRPr>
          </a:p>
        </p:txBody>
      </p:sp>
      <p:sp>
        <p:nvSpPr>
          <p:cNvPr id="159" name="Google Shape;15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Q-Learning 4x4</a:t>
            </a:r>
            <a:endParaRPr/>
          </a:p>
        </p:txBody>
      </p:sp>
      <p:sp>
        <p:nvSpPr>
          <p:cNvPr id="165" name="Google Shape;16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66" name="Google Shape;166;p24"/>
          <p:cNvSpPr txBox="1"/>
          <p:nvPr>
            <p:ph idx="1" type="body"/>
          </p:nvPr>
        </p:nvSpPr>
        <p:spPr>
          <a:xfrm>
            <a:off x="1038450" y="1214650"/>
            <a:ext cx="7067100" cy="3550800"/>
          </a:xfrm>
          <a:prstGeom prst="rect">
            <a:avLst/>
          </a:prstGeom>
          <a:solidFill>
            <a:srgbClr val="EFEFE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AF00D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episode </a:t>
            </a:r>
            <a:r>
              <a:rPr lang="de" sz="1050">
                <a:solidFill>
                  <a:srgbClr val="AF00D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795E26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(episodes):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state, _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env.reset()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terminated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sz="1050">
              <a:solidFill>
                <a:srgbClr val="0000FF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truncated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AF00D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terminated 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truncated):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de" sz="1050">
                <a:solidFill>
                  <a:srgbClr val="00800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# aktion nach epsilon greedy wählen</a:t>
            </a:r>
            <a:endParaRPr sz="1050">
              <a:solidFill>
                <a:srgbClr val="008000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de" sz="1050">
                <a:solidFill>
                  <a:srgbClr val="AF00D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np.random.uniform(</a:t>
            </a:r>
            <a:r>
              <a:rPr lang="de" sz="1050">
                <a:solidFill>
                  <a:srgbClr val="098658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1050">
                <a:solidFill>
                  <a:srgbClr val="098658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epsilon: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action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env.action_space.sample()  </a:t>
            </a:r>
            <a:r>
              <a:rPr lang="de" sz="1050">
                <a:solidFill>
                  <a:srgbClr val="00800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# zufällig</a:t>
            </a:r>
            <a:endParaRPr sz="1050">
              <a:solidFill>
                <a:srgbClr val="008000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de" sz="1050">
                <a:solidFill>
                  <a:srgbClr val="AF00D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action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np.argmax(q_table[state, :])  </a:t>
            </a:r>
            <a:r>
              <a:rPr lang="de" sz="1050">
                <a:solidFill>
                  <a:srgbClr val="00800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# beste</a:t>
            </a:r>
            <a:endParaRPr sz="1050">
              <a:solidFill>
                <a:srgbClr val="008000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de" sz="1050">
                <a:solidFill>
                  <a:srgbClr val="00800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# step</a:t>
            </a:r>
            <a:endParaRPr sz="1050">
              <a:solidFill>
                <a:srgbClr val="008000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new_state, reward, terminated, truncated, _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env.step(action)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Q-Learning 4x4</a:t>
            </a:r>
            <a:endParaRPr/>
          </a:p>
        </p:txBody>
      </p:sp>
      <p:sp>
        <p:nvSpPr>
          <p:cNvPr id="172" name="Google Shape;172;p25"/>
          <p:cNvSpPr txBox="1"/>
          <p:nvPr>
            <p:ph idx="1" type="body"/>
          </p:nvPr>
        </p:nvSpPr>
        <p:spPr>
          <a:xfrm>
            <a:off x="6820050" y="445025"/>
            <a:ext cx="1900800" cy="572700"/>
          </a:xfrm>
          <a:prstGeom prst="rect">
            <a:avLst/>
          </a:prstGeom>
          <a:solidFill>
            <a:srgbClr val="EFEFE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learning_rate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098658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0.9</a:t>
            </a:r>
            <a:endParaRPr sz="1050">
              <a:solidFill>
                <a:srgbClr val="098658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discount_factor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098658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0.9</a:t>
            </a:r>
            <a:endParaRPr sz="1050">
              <a:solidFill>
                <a:srgbClr val="008000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3" name="Google Shape;17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74" name="Google Shape;174;p25"/>
          <p:cNvSpPr txBox="1"/>
          <p:nvPr>
            <p:ph idx="1" type="body"/>
          </p:nvPr>
        </p:nvSpPr>
        <p:spPr>
          <a:xfrm>
            <a:off x="423150" y="2141450"/>
            <a:ext cx="8297700" cy="1478400"/>
          </a:xfrm>
          <a:prstGeom prst="rect">
            <a:avLst/>
          </a:prstGeom>
          <a:solidFill>
            <a:srgbClr val="EFEFE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de" sz="1050">
                <a:solidFill>
                  <a:srgbClr val="00800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# q table updaten</a:t>
            </a:r>
            <a:endParaRPr sz="1050">
              <a:solidFill>
                <a:srgbClr val="008000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q_table[state, action]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q_table[state, action]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learning_rate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(reward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discount_factor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np.max(q_table[new_state, :])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q_table[state, action]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state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new_state</a:t>
            </a:r>
            <a:endParaRPr sz="1050">
              <a:solidFill>
                <a:srgbClr val="008000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5" name="Google Shape;175;p25"/>
          <p:cNvSpPr txBox="1"/>
          <p:nvPr>
            <p:ph idx="1" type="body"/>
          </p:nvPr>
        </p:nvSpPr>
        <p:spPr>
          <a:xfrm>
            <a:off x="423150" y="1523638"/>
            <a:ext cx="8297700" cy="572700"/>
          </a:xfrm>
          <a:prstGeom prst="rect">
            <a:avLst/>
          </a:prstGeom>
          <a:solidFill>
            <a:srgbClr val="EFEFE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AF00D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episode </a:t>
            </a:r>
            <a:r>
              <a:rPr lang="de" sz="1050">
                <a:solidFill>
                  <a:srgbClr val="AF00D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795E26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(episodes):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AF00D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terminated 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truncated):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Q-Learning 4x4</a:t>
            </a:r>
            <a:endParaRPr/>
          </a:p>
        </p:txBody>
      </p:sp>
      <p:sp>
        <p:nvSpPr>
          <p:cNvPr id="181" name="Google Shape;181;p26"/>
          <p:cNvSpPr txBox="1"/>
          <p:nvPr>
            <p:ph idx="1" type="body"/>
          </p:nvPr>
        </p:nvSpPr>
        <p:spPr>
          <a:xfrm>
            <a:off x="6810275" y="186850"/>
            <a:ext cx="1900800" cy="1027800"/>
          </a:xfrm>
          <a:prstGeom prst="rect">
            <a:avLst/>
          </a:prstGeom>
          <a:solidFill>
            <a:srgbClr val="EFEFE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learning_rate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098658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0.9</a:t>
            </a:r>
            <a:endParaRPr sz="1050">
              <a:solidFill>
                <a:srgbClr val="098658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discount_factor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098658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0.9</a:t>
            </a:r>
            <a:endParaRPr sz="1050">
              <a:solidFill>
                <a:srgbClr val="098658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decay_rate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098658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0.0001</a:t>
            </a:r>
            <a:endParaRPr sz="1050">
              <a:solidFill>
                <a:srgbClr val="098658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epsilon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098658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1.0</a:t>
            </a:r>
            <a:endParaRPr sz="1050">
              <a:solidFill>
                <a:srgbClr val="008000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2" name="Google Shape;18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183" name="Google Shape;183;p26"/>
          <p:cNvSpPr txBox="1"/>
          <p:nvPr>
            <p:ph idx="1" type="body"/>
          </p:nvPr>
        </p:nvSpPr>
        <p:spPr>
          <a:xfrm>
            <a:off x="423150" y="2019650"/>
            <a:ext cx="8297700" cy="1441200"/>
          </a:xfrm>
          <a:prstGeom prst="rect">
            <a:avLst/>
          </a:prstGeom>
          <a:solidFill>
            <a:srgbClr val="EFEFE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00800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# epsilon über zeit reduzieren</a:t>
            </a:r>
            <a:endParaRPr sz="1050">
              <a:solidFill>
                <a:srgbClr val="008000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epsilon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795E26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(epsilon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decay_rate, </a:t>
            </a:r>
            <a:r>
              <a:rPr lang="de" sz="1050">
                <a:solidFill>
                  <a:srgbClr val="098658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env.close()</a:t>
            </a:r>
            <a:endParaRPr sz="1050">
              <a:solidFill>
                <a:srgbClr val="008000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4" name="Google Shape;184;p26"/>
          <p:cNvSpPr txBox="1"/>
          <p:nvPr>
            <p:ph idx="1" type="body"/>
          </p:nvPr>
        </p:nvSpPr>
        <p:spPr>
          <a:xfrm>
            <a:off x="423150" y="1401838"/>
            <a:ext cx="8297700" cy="572700"/>
          </a:xfrm>
          <a:prstGeom prst="rect">
            <a:avLst/>
          </a:prstGeom>
          <a:solidFill>
            <a:srgbClr val="EFEFE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AF00D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episode </a:t>
            </a:r>
            <a:r>
              <a:rPr lang="de" sz="1050">
                <a:solidFill>
                  <a:srgbClr val="AF00D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795E26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(episodes):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AF00D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terminated 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truncated):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Q-Learning 4x4</a:t>
            </a:r>
            <a:endParaRPr/>
          </a:p>
        </p:txBody>
      </p:sp>
      <p:sp>
        <p:nvSpPr>
          <p:cNvPr id="190" name="Google Shape;19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Training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de"/>
              <a:t>15.000 Episoden</a:t>
            </a:r>
            <a:endParaRPr/>
          </a:p>
        </p:txBody>
      </p:sp>
      <p:sp>
        <p:nvSpPr>
          <p:cNvPr id="191" name="Google Shape;19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192" name="Google Shape;19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3" y="1686450"/>
            <a:ext cx="2011675" cy="201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Q-Learning 4x4</a:t>
            </a:r>
            <a:endParaRPr/>
          </a:p>
        </p:txBody>
      </p:sp>
      <p:sp>
        <p:nvSpPr>
          <p:cNvPr id="198" name="Google Shape;19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200" name="Google Shape;20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938" y="1205538"/>
            <a:ext cx="6548124" cy="324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Q-Learning 4x4</a:t>
            </a:r>
            <a:endParaRPr/>
          </a:p>
        </p:txBody>
      </p:sp>
      <p:sp>
        <p:nvSpPr>
          <p:cNvPr id="206" name="Google Shape;206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208" name="Google Shape;20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6844" y="1444100"/>
            <a:ext cx="3730299" cy="2833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Q-Learning 4x4</a:t>
            </a:r>
            <a:endParaRPr/>
          </a:p>
        </p:txBody>
      </p:sp>
      <p:sp>
        <p:nvSpPr>
          <p:cNvPr id="214" name="Google Shape;21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216" name="Google Shape;21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594" y="1399650"/>
            <a:ext cx="3730299" cy="2833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0" title="ql_4x4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3275" y="1641475"/>
            <a:ext cx="243840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0"/>
          <p:cNvSpPr/>
          <p:nvPr/>
        </p:nvSpPr>
        <p:spPr>
          <a:xfrm>
            <a:off x="1017275" y="3851900"/>
            <a:ext cx="3206700" cy="196800"/>
          </a:xfrm>
          <a:prstGeom prst="rect">
            <a:avLst/>
          </a:prstGeom>
          <a:noFill/>
          <a:ln cap="flat" cmpd="sng" w="190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0"/>
          <p:cNvSpPr/>
          <p:nvPr/>
        </p:nvSpPr>
        <p:spPr>
          <a:xfrm>
            <a:off x="7084700" y="3491875"/>
            <a:ext cx="566400" cy="563700"/>
          </a:xfrm>
          <a:prstGeom prst="rect">
            <a:avLst/>
          </a:prstGeom>
          <a:noFill/>
          <a:ln cap="flat" cmpd="sng" w="3810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Q-Learning 8x8</a:t>
            </a:r>
            <a:endParaRPr/>
          </a:p>
        </p:txBody>
      </p:sp>
      <p:sp>
        <p:nvSpPr>
          <p:cNvPr id="225" name="Google Shape;22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227" name="Google Shape;227;p31"/>
          <p:cNvSpPr txBox="1"/>
          <p:nvPr>
            <p:ph idx="1" type="body"/>
          </p:nvPr>
        </p:nvSpPr>
        <p:spPr>
          <a:xfrm>
            <a:off x="973350" y="1886100"/>
            <a:ext cx="7197300" cy="1371300"/>
          </a:xfrm>
          <a:prstGeom prst="rect">
            <a:avLst/>
          </a:prstGeom>
          <a:solidFill>
            <a:srgbClr val="EFEFE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00800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# environment erstellen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env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gym.make(</a:t>
            </a:r>
            <a:r>
              <a:rPr lang="de" sz="1050">
                <a:solidFill>
                  <a:srgbClr val="A31515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"FrozenLake-v1"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map_name=</a:t>
            </a:r>
            <a:r>
              <a:rPr lang="de" sz="1050">
                <a:solidFill>
                  <a:srgbClr val="A31515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'8x8'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e" sz="1050">
                <a:solidFill>
                  <a:srgbClr val="A31515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is_slippery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render_mode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00800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# leere q table initialisieren</a:t>
            </a:r>
            <a:endParaRPr sz="1050">
              <a:solidFill>
                <a:srgbClr val="008000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q_table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np.zeros((env.observation_space.n, env.action_space.n))</a:t>
            </a:r>
            <a:endParaRPr>
              <a:highlight>
                <a:srgbClr val="EFEFEF"/>
              </a:highligh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Q-Learning 8x8</a:t>
            </a:r>
            <a:endParaRPr/>
          </a:p>
        </p:txBody>
      </p:sp>
      <p:sp>
        <p:nvSpPr>
          <p:cNvPr id="233" name="Google Shape;233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235" name="Google Shape;23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913" y="947724"/>
            <a:ext cx="7710175" cy="3825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Q-Learning 8x8</a:t>
            </a:r>
            <a:endParaRPr/>
          </a:p>
        </p:txBody>
      </p:sp>
      <p:sp>
        <p:nvSpPr>
          <p:cNvPr id="241" name="Google Shape;241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243" name="Google Shape;24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0397" y="965200"/>
            <a:ext cx="2843199" cy="3790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Q-Learning 8x8</a:t>
            </a:r>
            <a:endParaRPr/>
          </a:p>
        </p:txBody>
      </p:sp>
      <p:sp>
        <p:nvSpPr>
          <p:cNvPr id="249" name="Google Shape;249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251" name="Google Shape;25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3297" y="965200"/>
            <a:ext cx="2843199" cy="379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4" title="ql_8x8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5250" y="1240788"/>
            <a:ext cx="3239775" cy="323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Deep Q-Learning 4x4</a:t>
            </a:r>
            <a:endParaRPr/>
          </a:p>
        </p:txBody>
      </p:sp>
      <p:sp>
        <p:nvSpPr>
          <p:cNvPr id="258" name="Google Shape;258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260" name="Google Shape;26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948" y="2093750"/>
            <a:ext cx="2615726" cy="198664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5"/>
          <p:cNvSpPr/>
          <p:nvPr/>
        </p:nvSpPr>
        <p:spPr>
          <a:xfrm>
            <a:off x="1150625" y="1809750"/>
            <a:ext cx="2305050" cy="2260600"/>
          </a:xfrm>
          <a:custGeom>
            <a:rect b="b" l="l" r="r" t="t"/>
            <a:pathLst>
              <a:path extrusionOk="0" h="90424" w="92202">
                <a:moveTo>
                  <a:pt x="0" y="0"/>
                </a:moveTo>
                <a:cubicBezTo>
                  <a:pt x="2115" y="12693"/>
                  <a:pt x="15995" y="20185"/>
                  <a:pt x="24638" y="29718"/>
                </a:cubicBezTo>
                <a:cubicBezTo>
                  <a:pt x="36744" y="43070"/>
                  <a:pt x="50001" y="55369"/>
                  <a:pt x="63500" y="67310"/>
                </a:cubicBezTo>
                <a:cubicBezTo>
                  <a:pt x="72701" y="75449"/>
                  <a:pt x="85388" y="80203"/>
                  <a:pt x="92202" y="90424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62" name="Google Shape;262;p35"/>
          <p:cNvSpPr/>
          <p:nvPr/>
        </p:nvSpPr>
        <p:spPr>
          <a:xfrm>
            <a:off x="1207775" y="2070100"/>
            <a:ext cx="1987550" cy="1847850"/>
          </a:xfrm>
          <a:custGeom>
            <a:rect b="b" l="l" r="r" t="t"/>
            <a:pathLst>
              <a:path extrusionOk="0" h="73914" w="79502">
                <a:moveTo>
                  <a:pt x="0" y="73914"/>
                </a:moveTo>
                <a:cubicBezTo>
                  <a:pt x="17159" y="58075"/>
                  <a:pt x="36749" y="45058"/>
                  <a:pt x="54356" y="29718"/>
                </a:cubicBezTo>
                <a:cubicBezTo>
                  <a:pt x="64140" y="21194"/>
                  <a:pt x="76158" y="12538"/>
                  <a:pt x="79502" y="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263" name="Google Shape;26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1800" y="2016125"/>
            <a:ext cx="2095020" cy="18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5"/>
          <p:cNvSpPr/>
          <p:nvPr/>
        </p:nvSpPr>
        <p:spPr>
          <a:xfrm>
            <a:off x="5311870" y="1746677"/>
            <a:ext cx="2657700" cy="2409800"/>
          </a:xfrm>
          <a:custGeom>
            <a:rect b="b" l="l" r="r" t="t"/>
            <a:pathLst>
              <a:path extrusionOk="0" h="96392" w="106308">
                <a:moveTo>
                  <a:pt x="49196" y="6333"/>
                </a:moveTo>
                <a:cubicBezTo>
                  <a:pt x="33706" y="4120"/>
                  <a:pt x="15645" y="13177"/>
                  <a:pt x="6524" y="25891"/>
                </a:cubicBezTo>
                <a:cubicBezTo>
                  <a:pt x="-234" y="35312"/>
                  <a:pt x="-1999" y="49733"/>
                  <a:pt x="2460" y="60435"/>
                </a:cubicBezTo>
                <a:cubicBezTo>
                  <a:pt x="14734" y="89893"/>
                  <a:pt x="70754" y="108527"/>
                  <a:pt x="94408" y="87105"/>
                </a:cubicBezTo>
                <a:cubicBezTo>
                  <a:pt x="107896" y="74889"/>
                  <a:pt x="110229" y="47439"/>
                  <a:pt x="99488" y="32749"/>
                </a:cubicBezTo>
                <a:cubicBezTo>
                  <a:pt x="88962" y="18353"/>
                  <a:pt x="73161" y="6548"/>
                  <a:pt x="56054" y="1507"/>
                </a:cubicBezTo>
                <a:cubicBezTo>
                  <a:pt x="43844" y="-2090"/>
                  <a:pt x="29820" y="1374"/>
                  <a:pt x="18208" y="6587"/>
                </a:cubicBezTo>
              </a:path>
            </a:pathLst>
          </a:cu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Deep Q-Learning 4x4</a:t>
            </a:r>
            <a:endParaRPr/>
          </a:p>
        </p:txBody>
      </p:sp>
      <p:sp>
        <p:nvSpPr>
          <p:cNvPr id="270" name="Google Shape;270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272" name="Google Shape;272;p36"/>
          <p:cNvSpPr txBox="1"/>
          <p:nvPr>
            <p:ph idx="1" type="body"/>
          </p:nvPr>
        </p:nvSpPr>
        <p:spPr>
          <a:xfrm>
            <a:off x="1732800" y="1635175"/>
            <a:ext cx="5678400" cy="2451000"/>
          </a:xfrm>
          <a:prstGeom prst="rect">
            <a:avLst/>
          </a:prstGeom>
          <a:solidFill>
            <a:srgbClr val="EFEFEF"/>
          </a:solidFill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267F99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DQN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1050">
                <a:solidFill>
                  <a:srgbClr val="267F99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nn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1050">
                <a:solidFill>
                  <a:srgbClr val="267F99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Module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795E26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__init__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input_features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out_actions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267F99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lang="de" sz="1050">
                <a:solidFill>
                  <a:srgbClr val="795E26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__init__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.fc1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nn.Linear(input_features, input_features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de" sz="1050">
                <a:solidFill>
                  <a:srgbClr val="098658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.out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nn.Linear(input_features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de" sz="1050">
                <a:solidFill>
                  <a:srgbClr val="098658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 out_actions)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795E26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forward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x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F.relu(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.fc1(x))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x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.out(x)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AF00D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x</a:t>
            </a:r>
            <a:endParaRPr sz="1050">
              <a:solidFill>
                <a:srgbClr val="008000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Deep Q-Learning 4x4</a:t>
            </a:r>
            <a:endParaRPr/>
          </a:p>
        </p:txBody>
      </p:sp>
      <p:sp>
        <p:nvSpPr>
          <p:cNvPr id="278" name="Google Shape;278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280" name="Google Shape;28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850" y="1641475"/>
            <a:ext cx="243840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7"/>
          <p:cNvSpPr/>
          <p:nvPr/>
        </p:nvSpPr>
        <p:spPr>
          <a:xfrm>
            <a:off x="4065275" y="2330450"/>
            <a:ext cx="1130400" cy="914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82" name="Google Shape;282;p37"/>
          <p:cNvGraphicFramePr/>
          <p:nvPr/>
        </p:nvGraphicFramePr>
        <p:xfrm>
          <a:off x="6034050" y="16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{FCC05D6E-E217-4F37-A52B-851C280F2EF5}</a:tableStyleId>
              </a:tblPr>
              <a:tblGrid>
                <a:gridCol w="609600"/>
                <a:gridCol w="609600"/>
                <a:gridCol w="609600"/>
                <a:gridCol w="609600"/>
              </a:tblGrid>
              <a:tr h="6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0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-1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0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1</a:t>
                      </a:r>
                      <a:endParaRPr b="1" sz="1900"/>
                    </a:p>
                  </a:txBody>
                  <a:tcPr marT="91425" marB="91425" marR="91425" marL="91425" anchor="ctr"/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0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0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0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0</a:t>
                      </a:r>
                      <a:endParaRPr b="1" sz="1900"/>
                    </a:p>
                  </a:txBody>
                  <a:tcPr marT="91425" marB="91425" marR="91425" marL="91425" anchor="ctr"/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0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0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-1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0</a:t>
                      </a:r>
                      <a:endParaRPr b="1" sz="1900"/>
                    </a:p>
                  </a:txBody>
                  <a:tcPr marT="91425" marB="91425" marR="91425" marL="91425" anchor="ctr"/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0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-1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0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2</a:t>
                      </a:r>
                      <a:endParaRPr b="1" sz="19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Deep Q-Learning 4x4</a:t>
            </a:r>
            <a:endParaRPr/>
          </a:p>
        </p:txBody>
      </p:sp>
      <p:sp>
        <p:nvSpPr>
          <p:cNvPr id="288" name="Google Shape;288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290" name="Google Shape;290;p38"/>
          <p:cNvSpPr txBox="1"/>
          <p:nvPr>
            <p:ph idx="1" type="body"/>
          </p:nvPr>
        </p:nvSpPr>
        <p:spPr>
          <a:xfrm>
            <a:off x="973350" y="1886100"/>
            <a:ext cx="7197300" cy="2324100"/>
          </a:xfrm>
          <a:prstGeom prst="rect">
            <a:avLst/>
          </a:prstGeom>
          <a:solidFill>
            <a:srgbClr val="EFEFE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00800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# environment erstellen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env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gym.make(</a:t>
            </a:r>
            <a:r>
              <a:rPr lang="de" sz="1050">
                <a:solidFill>
                  <a:srgbClr val="A31515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"FrozenLake-v1"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map_name=</a:t>
            </a:r>
            <a:r>
              <a:rPr lang="de" sz="1050">
                <a:solidFill>
                  <a:srgbClr val="A31515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'4x4'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e" sz="1050">
                <a:solidFill>
                  <a:srgbClr val="A31515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is_slippery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render_mode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50">
                <a:solidFill>
                  <a:srgbClr val="00800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# policy und target network erstellen</a:t>
            </a:r>
            <a:endParaRPr sz="1050">
              <a:solidFill>
                <a:srgbClr val="008000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policy_dqn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DQN(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input_features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num_lake_tiles, 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out_actions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4).to(device)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target_dqn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DQN(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input_features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num_lake_tiles, 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out_actions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4).to(device)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50">
                <a:solidFill>
                  <a:srgbClr val="00800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# target network und policy network gleich setzen</a:t>
            </a:r>
            <a:endParaRPr sz="1050">
              <a:solidFill>
                <a:srgbClr val="008000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target_dqn.load_state_dict(policy_dqn.state_dict())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8000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Deep Q-Learning 4x4</a:t>
            </a:r>
            <a:endParaRPr/>
          </a:p>
        </p:txBody>
      </p:sp>
      <p:sp>
        <p:nvSpPr>
          <p:cNvPr id="296" name="Google Shape;296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298" name="Google Shape;298;p39"/>
          <p:cNvSpPr txBox="1"/>
          <p:nvPr>
            <p:ph idx="1" type="body"/>
          </p:nvPr>
        </p:nvSpPr>
        <p:spPr>
          <a:xfrm>
            <a:off x="1607700" y="1257925"/>
            <a:ext cx="5928600" cy="3282300"/>
          </a:xfrm>
          <a:prstGeom prst="rect">
            <a:avLst/>
          </a:prstGeom>
          <a:solidFill>
            <a:srgbClr val="EFEFEF"/>
          </a:solidFill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de" sz="1050">
                <a:solidFill>
                  <a:srgbClr val="AF00D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episode </a:t>
            </a:r>
            <a:r>
              <a:rPr lang="de" sz="1050">
                <a:solidFill>
                  <a:srgbClr val="AF00D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795E26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(episodes):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state, _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env.reset()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terminated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sz="1050">
              <a:solidFill>
                <a:srgbClr val="0000FF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truncated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sz="1050">
              <a:solidFill>
                <a:srgbClr val="0000FF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FF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	 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current_state_tensor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encode_game_state(desc, state).to(device)</a:t>
            </a:r>
            <a:endParaRPr sz="1050">
              <a:solidFill>
                <a:srgbClr val="0000FF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AF00D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terminated 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truncated):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de" sz="1050">
                <a:solidFill>
                  <a:srgbClr val="00800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# aktion nach epsilon greedy wählen</a:t>
            </a:r>
            <a:endParaRPr sz="1050">
              <a:solidFill>
                <a:srgbClr val="008000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de" sz="1050">
                <a:solidFill>
                  <a:srgbClr val="AF00D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random.random()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epsilon: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action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env.action_space.sample()  </a:t>
            </a:r>
            <a:r>
              <a:rPr lang="de" sz="1050">
                <a:solidFill>
                  <a:srgbClr val="00800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# zufällig</a:t>
            </a:r>
            <a:endParaRPr sz="1050">
              <a:solidFill>
                <a:srgbClr val="008000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de" sz="1050">
                <a:solidFill>
                  <a:srgbClr val="AF00D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:          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r>
              <a:rPr lang="de" sz="1050">
                <a:solidFill>
                  <a:srgbClr val="AF00D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torch.no_grad():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q_values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policy_dqn(current_state_tensor).to(device)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action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torch.argmax(q_values).item()  </a:t>
            </a:r>
            <a:r>
              <a:rPr lang="de" sz="1050">
                <a:solidFill>
                  <a:srgbClr val="00800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# beste</a:t>
            </a:r>
            <a:endParaRPr sz="1050">
              <a:solidFill>
                <a:srgbClr val="008000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de" sz="1050">
                <a:solidFill>
                  <a:srgbClr val="00800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# step</a:t>
            </a:r>
            <a:endParaRPr sz="1050">
              <a:solidFill>
                <a:srgbClr val="008000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new_state, reward, terminated, truncated, _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env.step(action)</a:t>
            </a:r>
            <a:endParaRPr sz="1050">
              <a:solidFill>
                <a:srgbClr val="008000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Deep Q-Learning 4x4</a:t>
            </a:r>
            <a:endParaRPr/>
          </a:p>
        </p:txBody>
      </p:sp>
      <p:sp>
        <p:nvSpPr>
          <p:cNvPr id="304" name="Google Shape;304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306" name="Google Shape;306;p40"/>
          <p:cNvSpPr txBox="1"/>
          <p:nvPr>
            <p:ph idx="1" type="body"/>
          </p:nvPr>
        </p:nvSpPr>
        <p:spPr>
          <a:xfrm>
            <a:off x="423150" y="2171700"/>
            <a:ext cx="8297700" cy="1733700"/>
          </a:xfrm>
          <a:prstGeom prst="rect">
            <a:avLst/>
          </a:prstGeom>
          <a:solidFill>
            <a:srgbClr val="EFEFE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next_state_tensor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encode_game_state(desc, new_state).to(device)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de" sz="1050">
                <a:solidFill>
                  <a:srgbClr val="00800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# im buffer speichern</a:t>
            </a:r>
            <a:endParaRPr sz="1050">
              <a:solidFill>
                <a:srgbClr val="008000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buffer.append((state, action, new_state, reward, terminated, desc))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state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new_state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current_state_tensor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next_state_tenso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sz="1050">
              <a:solidFill>
                <a:srgbClr val="AF00D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7" name="Google Shape;307;p40"/>
          <p:cNvSpPr txBox="1"/>
          <p:nvPr>
            <p:ph idx="1" type="body"/>
          </p:nvPr>
        </p:nvSpPr>
        <p:spPr>
          <a:xfrm>
            <a:off x="423150" y="1523638"/>
            <a:ext cx="8297700" cy="572700"/>
          </a:xfrm>
          <a:prstGeom prst="rect">
            <a:avLst/>
          </a:prstGeom>
          <a:solidFill>
            <a:srgbClr val="EFEFE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AF00D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episode </a:t>
            </a:r>
            <a:r>
              <a:rPr lang="de" sz="1050">
                <a:solidFill>
                  <a:srgbClr val="AF00D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795E26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(episodes):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AF00D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terminated 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truncated):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Deep Q-Learning 4x4</a:t>
            </a:r>
            <a:endParaRPr/>
          </a:p>
        </p:txBody>
      </p:sp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315" name="Google Shape;315;p41"/>
          <p:cNvSpPr txBox="1"/>
          <p:nvPr>
            <p:ph idx="1" type="body"/>
          </p:nvPr>
        </p:nvSpPr>
        <p:spPr>
          <a:xfrm>
            <a:off x="423150" y="2171700"/>
            <a:ext cx="8297700" cy="2397300"/>
          </a:xfrm>
          <a:prstGeom prst="rect">
            <a:avLst/>
          </a:prstGeom>
          <a:solidFill>
            <a:srgbClr val="EFEFEF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00800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# falls genug sample im buffer dann erst lernen</a:t>
            </a:r>
            <a:endParaRPr sz="1050">
              <a:solidFill>
                <a:srgbClr val="008000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de" sz="1050">
                <a:solidFill>
                  <a:srgbClr val="AF00D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795E26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(buffer)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mini_batch_size: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mini_batch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buffer.sample(mini_batch_size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r>
              <a:rPr lang="de" sz="1050">
                <a:solidFill>
                  <a:srgbClr val="00800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# policy und target net output vergleichen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optimize(mini_batch, policy_dqn, target_dqn, optimizer)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r>
              <a:rPr lang="de" sz="1050">
                <a:solidFill>
                  <a:srgbClr val="00800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# target network synchronisieren</a:t>
            </a:r>
            <a:endParaRPr sz="1050">
              <a:solidFill>
                <a:srgbClr val="008000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r>
              <a:rPr lang="de" sz="1050">
                <a:solidFill>
                  <a:srgbClr val="AF00D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total_steps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%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network_sync_rate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098658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target_dqn.load_state_dict(policy_dqn.state_dict())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6" name="Google Shape;316;p41"/>
          <p:cNvSpPr txBox="1"/>
          <p:nvPr>
            <p:ph idx="1" type="body"/>
          </p:nvPr>
        </p:nvSpPr>
        <p:spPr>
          <a:xfrm>
            <a:off x="423150" y="1523638"/>
            <a:ext cx="8297700" cy="572700"/>
          </a:xfrm>
          <a:prstGeom prst="rect">
            <a:avLst/>
          </a:prstGeom>
          <a:solidFill>
            <a:srgbClr val="EFEFE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AF00D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episode </a:t>
            </a:r>
            <a:r>
              <a:rPr lang="de" sz="1050">
                <a:solidFill>
                  <a:srgbClr val="AF00D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795E26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(episodes):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AF00D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terminated 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truncated):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7" name="Google Shape;317;p41"/>
          <p:cNvSpPr txBox="1"/>
          <p:nvPr>
            <p:ph idx="1" type="body"/>
          </p:nvPr>
        </p:nvSpPr>
        <p:spPr>
          <a:xfrm>
            <a:off x="6820050" y="495300"/>
            <a:ext cx="1900800" cy="952800"/>
          </a:xfrm>
          <a:prstGeom prst="rect">
            <a:avLst/>
          </a:prstGeom>
          <a:solidFill>
            <a:srgbClr val="EFEFEF"/>
          </a:solidFill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learning_rate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098658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0.001</a:t>
            </a:r>
            <a:endParaRPr sz="1050">
              <a:solidFill>
                <a:srgbClr val="098658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network_sync_rate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098658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50</a:t>
            </a:r>
            <a:endParaRPr sz="1050">
              <a:solidFill>
                <a:srgbClr val="098658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max_buffer_size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098658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50000</a:t>
            </a:r>
            <a:endParaRPr sz="1050">
              <a:solidFill>
                <a:srgbClr val="098658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mini_batch_size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098658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32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Deep Q-Learning 4x4</a:t>
            </a:r>
            <a:endParaRPr/>
          </a:p>
        </p:txBody>
      </p:sp>
      <p:sp>
        <p:nvSpPr>
          <p:cNvPr id="323" name="Google Shape;323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325" name="Google Shape;325;p42"/>
          <p:cNvSpPr txBox="1"/>
          <p:nvPr>
            <p:ph idx="1" type="body"/>
          </p:nvPr>
        </p:nvSpPr>
        <p:spPr>
          <a:xfrm>
            <a:off x="423150" y="2171700"/>
            <a:ext cx="8297700" cy="1416000"/>
          </a:xfrm>
          <a:prstGeom prst="rect">
            <a:avLst/>
          </a:prstGeom>
          <a:solidFill>
            <a:srgbClr val="EFEFEF"/>
          </a:solidFill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00800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 sz="1050">
              <a:solidFill>
                <a:srgbClr val="008000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00800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00800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# epsilon über zeit reduzieren</a:t>
            </a:r>
            <a:endParaRPr sz="1050">
              <a:solidFill>
                <a:srgbClr val="008000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epsilon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795E26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1050">
                <a:solidFill>
                  <a:srgbClr val="098658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0.05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 epsilon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098658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0.995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env.close()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6" name="Google Shape;326;p42"/>
          <p:cNvSpPr txBox="1"/>
          <p:nvPr>
            <p:ph idx="1" type="body"/>
          </p:nvPr>
        </p:nvSpPr>
        <p:spPr>
          <a:xfrm>
            <a:off x="423150" y="1523638"/>
            <a:ext cx="8297700" cy="572700"/>
          </a:xfrm>
          <a:prstGeom prst="rect">
            <a:avLst/>
          </a:prstGeom>
          <a:solidFill>
            <a:srgbClr val="EFEFE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AF00D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episode </a:t>
            </a:r>
            <a:r>
              <a:rPr lang="de" sz="1050">
                <a:solidFill>
                  <a:srgbClr val="AF00D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795E26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(episodes):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AF00D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terminated 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truncated):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Deep Q-Learning 4x4</a:t>
            </a:r>
            <a:endParaRPr/>
          </a:p>
        </p:txBody>
      </p:sp>
      <p:sp>
        <p:nvSpPr>
          <p:cNvPr id="332" name="Google Shape;332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Training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de"/>
              <a:t>1.000 Episoden</a:t>
            </a:r>
            <a:endParaRPr/>
          </a:p>
        </p:txBody>
      </p:sp>
      <p:sp>
        <p:nvSpPr>
          <p:cNvPr id="333" name="Google Shape;333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334" name="Google Shape;33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3" y="1686450"/>
            <a:ext cx="2011675" cy="201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Deep Q-Learning 4x4</a:t>
            </a:r>
            <a:endParaRPr/>
          </a:p>
        </p:txBody>
      </p:sp>
      <p:sp>
        <p:nvSpPr>
          <p:cNvPr id="340" name="Google Shape;340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342" name="Google Shape;34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888" y="1434088"/>
            <a:ext cx="8656225" cy="285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Deep Q-Learning 4x4</a:t>
            </a:r>
            <a:endParaRPr/>
          </a:p>
        </p:txBody>
      </p:sp>
      <p:sp>
        <p:nvSpPr>
          <p:cNvPr id="348" name="Google Shape;348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350" name="Google Shape;350;p45" title="dql_fixed_4x4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7863" y="1526538"/>
            <a:ext cx="2668275" cy="266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Deep Q-Learning 8x8</a:t>
            </a:r>
            <a:endParaRPr/>
          </a:p>
        </p:txBody>
      </p:sp>
      <p:sp>
        <p:nvSpPr>
          <p:cNvPr id="356" name="Google Shape;356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358" name="Google Shape;35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538" y="1479338"/>
            <a:ext cx="8376925" cy="276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Deep Q-Learning 8x8</a:t>
            </a:r>
            <a:endParaRPr/>
          </a:p>
        </p:txBody>
      </p:sp>
      <p:sp>
        <p:nvSpPr>
          <p:cNvPr id="364" name="Google Shape;364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366" name="Google Shape;366;p47" title="dql_fixed_8x8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5575" y="984250"/>
            <a:ext cx="3752850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Deep Q-Learning 4x4 (random lake)</a:t>
            </a:r>
            <a:endParaRPr/>
          </a:p>
        </p:txBody>
      </p:sp>
      <p:sp>
        <p:nvSpPr>
          <p:cNvPr id="372" name="Google Shape;372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374" name="Google Shape;374;p48"/>
          <p:cNvSpPr txBox="1"/>
          <p:nvPr>
            <p:ph idx="1" type="body"/>
          </p:nvPr>
        </p:nvSpPr>
        <p:spPr>
          <a:xfrm>
            <a:off x="733650" y="1892450"/>
            <a:ext cx="7676700" cy="1885800"/>
          </a:xfrm>
          <a:prstGeom prst="rect">
            <a:avLst/>
          </a:prstGeom>
          <a:solidFill>
            <a:srgbClr val="EFEFE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00800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# environment erstellen</a:t>
            </a:r>
            <a:endParaRPr sz="1050">
              <a:solidFill>
                <a:srgbClr val="008000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env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gym.make(</a:t>
            </a:r>
            <a:r>
              <a:rPr lang="de" sz="1050">
                <a:solidFill>
                  <a:srgbClr val="A31515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"FrozenLake-v1"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map_name=</a:t>
            </a:r>
            <a:r>
              <a:rPr lang="de" sz="1050">
                <a:solidFill>
                  <a:srgbClr val="A31515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'4x4'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e" sz="1050">
                <a:solidFill>
                  <a:srgbClr val="A31515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is_slippery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render_mode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AF00D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episode </a:t>
            </a:r>
            <a:r>
              <a:rPr lang="de" sz="1050">
                <a:solidFill>
                  <a:srgbClr val="AF00D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795E26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(episodes):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00800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e" sz="1050">
                <a:solidFill>
                  <a:srgbClr val="00800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# environment erstellen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env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gym.make(</a:t>
            </a:r>
            <a:r>
              <a:rPr lang="de" sz="1050">
                <a:solidFill>
                  <a:srgbClr val="A31515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"FrozenLake-v1"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map_name=</a:t>
            </a:r>
            <a:r>
              <a:rPr lang="de" sz="1050">
                <a:solidFill>
                  <a:srgbClr val="A31515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'4x4'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e" sz="1050">
                <a:solidFill>
                  <a:srgbClr val="A31515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is_slippery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render_mode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8000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5" name="Google Shape;375;p48"/>
          <p:cNvSpPr/>
          <p:nvPr/>
        </p:nvSpPr>
        <p:spPr>
          <a:xfrm>
            <a:off x="782325" y="2000250"/>
            <a:ext cx="6813600" cy="393600"/>
          </a:xfrm>
          <a:prstGeom prst="rect">
            <a:avLst/>
          </a:prstGeom>
          <a:solidFill>
            <a:srgbClr val="EEEEEE">
              <a:alpha val="69810"/>
            </a:srgbClr>
          </a:solidFill>
          <a:ln cap="flat" cmpd="sng" w="9525">
            <a:solidFill>
              <a:srgbClr val="B8B8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48"/>
          <p:cNvSpPr/>
          <p:nvPr/>
        </p:nvSpPr>
        <p:spPr>
          <a:xfrm>
            <a:off x="7646675" y="2345544"/>
            <a:ext cx="534025" cy="619900"/>
          </a:xfrm>
          <a:custGeom>
            <a:rect b="b" l="l" r="r" t="t"/>
            <a:pathLst>
              <a:path extrusionOk="0" h="24796" w="21361">
                <a:moveTo>
                  <a:pt x="0" y="158"/>
                </a:moveTo>
                <a:cubicBezTo>
                  <a:pt x="7250" y="-187"/>
                  <a:pt x="18319" y="-303"/>
                  <a:pt x="20828" y="6508"/>
                </a:cubicBezTo>
                <a:cubicBezTo>
                  <a:pt x="23239" y="13052"/>
                  <a:pt x="16551" y="21052"/>
                  <a:pt x="10668" y="24796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77" name="Google Shape;377;p48"/>
          <p:cNvSpPr/>
          <p:nvPr/>
        </p:nvSpPr>
        <p:spPr>
          <a:xfrm>
            <a:off x="7863602" y="2762250"/>
            <a:ext cx="233900" cy="304600"/>
          </a:xfrm>
          <a:custGeom>
            <a:rect b="b" l="l" r="r" t="t"/>
            <a:pathLst>
              <a:path extrusionOk="0" h="12184" w="9356">
                <a:moveTo>
                  <a:pt x="2245" y="0"/>
                </a:moveTo>
                <a:cubicBezTo>
                  <a:pt x="1857" y="3884"/>
                  <a:pt x="-1906" y="9748"/>
                  <a:pt x="1483" y="11684"/>
                </a:cubicBezTo>
                <a:cubicBezTo>
                  <a:pt x="3927" y="13080"/>
                  <a:pt x="8467" y="11306"/>
                  <a:pt x="9357" y="8636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78" name="Google Shape;378;p48"/>
          <p:cNvSpPr/>
          <p:nvPr/>
        </p:nvSpPr>
        <p:spPr>
          <a:xfrm>
            <a:off x="1087125" y="3066850"/>
            <a:ext cx="6813600" cy="393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Deep Q-Learning 4x4 (random lake)</a:t>
            </a:r>
            <a:endParaRPr/>
          </a:p>
        </p:txBody>
      </p:sp>
      <p:sp>
        <p:nvSpPr>
          <p:cNvPr id="384" name="Google Shape;384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Training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de"/>
              <a:t>3.000 Episoden</a:t>
            </a:r>
            <a:endParaRPr/>
          </a:p>
        </p:txBody>
      </p:sp>
      <p:sp>
        <p:nvSpPr>
          <p:cNvPr id="385" name="Google Shape;385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386" name="Google Shape;38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3" y="1686450"/>
            <a:ext cx="2011675" cy="201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Deep Q-Learning 4x4 (random lake)</a:t>
            </a:r>
            <a:endParaRPr/>
          </a:p>
        </p:txBody>
      </p:sp>
      <p:sp>
        <p:nvSpPr>
          <p:cNvPr id="392" name="Google Shape;392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394" name="Google Shape;39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775" y="1174663"/>
            <a:ext cx="8472449" cy="279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Deep Q-Learning 4x4 (random lake)</a:t>
            </a:r>
            <a:endParaRPr/>
          </a:p>
        </p:txBody>
      </p:sp>
      <p:sp>
        <p:nvSpPr>
          <p:cNvPr id="400" name="Google Shape;400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402" name="Google Shape;402;p51" title="dql_random_4x4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1550" y="2302050"/>
            <a:ext cx="2185725" cy="218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51" title="dql_random_4x4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875" y="1122075"/>
            <a:ext cx="2185725" cy="218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51" title="dql_random_4x4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16950" y="1288225"/>
            <a:ext cx="2185725" cy="21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de"/>
              <a:t>Deep Q-Learning 8x8 (random lake)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Training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de"/>
              <a:t>3.000 Episoden</a:t>
            </a:r>
            <a:endParaRPr/>
          </a:p>
        </p:txBody>
      </p:sp>
      <p:sp>
        <p:nvSpPr>
          <p:cNvPr id="411" name="Google Shape;411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412" name="Google Shape;41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3" y="1686450"/>
            <a:ext cx="2011675" cy="201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Deep Q-Learning 8x8 (random lake)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420" name="Google Shape;42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163" y="1507725"/>
            <a:ext cx="8185675" cy="270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Deep Q-Learning 8x8 (random lake)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428" name="Google Shape;42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1925" y="1240600"/>
            <a:ext cx="3240150" cy="324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Deep Q-Learning 8x8 (random lake)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Training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de"/>
              <a:t>30.000 Episoden</a:t>
            </a:r>
            <a:endParaRPr/>
          </a:p>
        </p:txBody>
      </p:sp>
      <p:sp>
        <p:nvSpPr>
          <p:cNvPr id="435" name="Google Shape;435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436" name="Google Shape;43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3" y="1686450"/>
            <a:ext cx="2011675" cy="201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Deep Q-Learning 8x8 (random lake)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444" name="Google Shape;44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350" y="1465475"/>
            <a:ext cx="8441300" cy="279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Deep Q-Learning 8x8 (random lake)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452" name="Google Shape;45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3800" y="1152475"/>
            <a:ext cx="34164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Neuer Reward</a:t>
            </a:r>
            <a:endParaRPr/>
          </a:p>
        </p:txBody>
      </p:sp>
      <p:sp>
        <p:nvSpPr>
          <p:cNvPr id="458" name="Google Shape;458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58"/>
          <p:cNvSpPr txBox="1"/>
          <p:nvPr/>
        </p:nvSpPr>
        <p:spPr>
          <a:xfrm>
            <a:off x="1333500" y="2485850"/>
            <a:ext cx="13392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2"/>
                </a:solidFill>
              </a:rPr>
              <a:t>Reward =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60" name="Google Shape;460;p58"/>
          <p:cNvSpPr txBox="1"/>
          <p:nvPr/>
        </p:nvSpPr>
        <p:spPr>
          <a:xfrm>
            <a:off x="2536625" y="1211700"/>
            <a:ext cx="7662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4400">
                <a:solidFill>
                  <a:schemeClr val="dk2"/>
                </a:solidFill>
              </a:rPr>
              <a:t>{</a:t>
            </a:r>
            <a:endParaRPr sz="14400">
              <a:solidFill>
                <a:schemeClr val="dk2"/>
              </a:solidFill>
            </a:endParaRPr>
          </a:p>
        </p:txBody>
      </p:sp>
      <p:sp>
        <p:nvSpPr>
          <p:cNvPr id="461" name="Google Shape;461;p58"/>
          <p:cNvSpPr txBox="1"/>
          <p:nvPr/>
        </p:nvSpPr>
        <p:spPr>
          <a:xfrm>
            <a:off x="3302825" y="1978375"/>
            <a:ext cx="2127000" cy="15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2"/>
                </a:solidFill>
              </a:rPr>
              <a:t>10, wenn goal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2"/>
                </a:solidFill>
              </a:rPr>
              <a:t>-10, wenn loch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2"/>
                </a:solidFill>
              </a:rPr>
              <a:t>-0.1, pro schritt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62" name="Google Shape;462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Deep Q-Learning 8x8 (random lake)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Training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de"/>
              <a:t>5.000 Episoden</a:t>
            </a:r>
            <a:endParaRPr/>
          </a:p>
        </p:txBody>
      </p:sp>
      <p:sp>
        <p:nvSpPr>
          <p:cNvPr id="469" name="Google Shape;469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470" name="Google Shape;47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3" y="1686450"/>
            <a:ext cx="2011675" cy="201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Deep Q-Learning 8x8 (random lake)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478" name="Google Shape;478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425" y="1430463"/>
            <a:ext cx="8653150" cy="286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Deep Q-Learning 8x8 (random lake)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486" name="Google Shape;486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450" y="1237125"/>
            <a:ext cx="3182250" cy="318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1350" y="1237125"/>
            <a:ext cx="3182250" cy="318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Was ist schiefgelaufen?</a:t>
            </a:r>
            <a:endParaRPr/>
          </a:p>
        </p:txBody>
      </p:sp>
      <p:sp>
        <p:nvSpPr>
          <p:cNvPr id="493" name="Google Shape;493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Truncated: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Reward(T) = -0.1 * 100 = -10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495" name="Google Shape;495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2175" y="237650"/>
            <a:ext cx="3777999" cy="203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Was ist schiefgelaufen?</a:t>
            </a:r>
            <a:endParaRPr/>
          </a:p>
        </p:txBody>
      </p:sp>
      <p:sp>
        <p:nvSpPr>
          <p:cNvPr id="501" name="Google Shape;501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Truncated: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Reward(T) = -0.1 * 100 = -10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Ins Loch gefallen: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Reward(L) = -10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e"/>
              <a:t>		</a:t>
            </a:r>
            <a:endParaRPr/>
          </a:p>
        </p:txBody>
      </p:sp>
      <p:sp>
        <p:nvSpPr>
          <p:cNvPr id="502" name="Google Shape;502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503" name="Google Shape;50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2175" y="237650"/>
            <a:ext cx="3777999" cy="203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Was ist schiefgelaufen?</a:t>
            </a:r>
            <a:endParaRPr/>
          </a:p>
        </p:txBody>
      </p:sp>
      <p:sp>
        <p:nvSpPr>
          <p:cNvPr id="509" name="Google Shape;509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Truncated: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Reward(T) = -0.1 * 100 = -10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Ins Loch gefallen: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Reward(L) = -10  +  x * -0.1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e"/>
              <a:t>		</a:t>
            </a:r>
            <a:endParaRPr/>
          </a:p>
        </p:txBody>
      </p:sp>
      <p:sp>
        <p:nvSpPr>
          <p:cNvPr id="510" name="Google Shape;510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511" name="Google Shape;511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2175" y="237650"/>
            <a:ext cx="3777999" cy="203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Was ist schiefgelaufen?</a:t>
            </a:r>
            <a:endParaRPr/>
          </a:p>
        </p:txBody>
      </p:sp>
      <p:sp>
        <p:nvSpPr>
          <p:cNvPr id="517" name="Google Shape;517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Truncated: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Reward(T) = -0.1 * 100 = -10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Ins Loch gefallen: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Reward(L) = -10  +  x * -0.1  &lt; Reward(T)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e"/>
              <a:t>		</a:t>
            </a:r>
            <a:endParaRPr/>
          </a:p>
        </p:txBody>
      </p:sp>
      <p:sp>
        <p:nvSpPr>
          <p:cNvPr id="518" name="Google Shape;518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519" name="Google Shape;519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2175" y="237650"/>
            <a:ext cx="3777999" cy="203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Was ist schiefgelaufen?</a:t>
            </a:r>
            <a:endParaRPr/>
          </a:p>
        </p:txBody>
      </p:sp>
      <p:sp>
        <p:nvSpPr>
          <p:cNvPr id="525" name="Google Shape;525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Truncated: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Reward(T) = -0.1 * 100 = -10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Ins Loch gefallen: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Reward(L) = -10  +  x * -0.1  &lt; Reward(T)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e"/>
              <a:t>			lieber 100 schritte machen, als riskieren in ein Loch zu fallen</a:t>
            </a:r>
            <a:endParaRPr/>
          </a:p>
        </p:txBody>
      </p:sp>
      <p:sp>
        <p:nvSpPr>
          <p:cNvPr id="526" name="Google Shape;526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527" name="Google Shape;52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2175" y="237650"/>
            <a:ext cx="3777999" cy="2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66"/>
          <p:cNvSpPr/>
          <p:nvPr/>
        </p:nvSpPr>
        <p:spPr>
          <a:xfrm>
            <a:off x="899400" y="3939525"/>
            <a:ext cx="682500" cy="51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Dann mach doch einfach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de"/>
              <a:t>den Reward für Schritte negativer</a:t>
            </a:r>
            <a:endParaRPr/>
          </a:p>
        </p:txBody>
      </p:sp>
      <p:sp>
        <p:nvSpPr>
          <p:cNvPr id="535" name="Google Shape;535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536" name="Google Shape;536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8675" y="1226600"/>
            <a:ext cx="1666650" cy="166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Was ist schiefgelaufen?</a:t>
            </a:r>
            <a:endParaRPr/>
          </a:p>
        </p:txBody>
      </p:sp>
      <p:sp>
        <p:nvSpPr>
          <p:cNvPr id="542" name="Google Shape;542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Truncated: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Reward(T) = -1 * 100 = -100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Ins Loch gefallen: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Reward(L) = -10  +  x * -1  &gt; Reward(T)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e"/>
              <a:t>			lieber schnell in ein Loch fallen, als viele Schritte zu machen</a:t>
            </a:r>
            <a:endParaRPr/>
          </a:p>
        </p:txBody>
      </p:sp>
      <p:sp>
        <p:nvSpPr>
          <p:cNvPr id="543" name="Google Shape;543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544" name="Google Shape;54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2175" y="237650"/>
            <a:ext cx="3777999" cy="2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68"/>
          <p:cNvSpPr/>
          <p:nvPr/>
        </p:nvSpPr>
        <p:spPr>
          <a:xfrm>
            <a:off x="899400" y="3939525"/>
            <a:ext cx="682500" cy="51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6" name="Google Shape;546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2175" y="237650"/>
            <a:ext cx="3930126" cy="2284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Neuer Reward</a:t>
            </a:r>
            <a:endParaRPr/>
          </a:p>
        </p:txBody>
      </p:sp>
      <p:sp>
        <p:nvSpPr>
          <p:cNvPr id="552" name="Google Shape;552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69"/>
          <p:cNvSpPr txBox="1"/>
          <p:nvPr/>
        </p:nvSpPr>
        <p:spPr>
          <a:xfrm>
            <a:off x="1333500" y="2485850"/>
            <a:ext cx="13392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2"/>
                </a:solidFill>
              </a:rPr>
              <a:t>Reward =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4" name="Google Shape;554;p69"/>
          <p:cNvSpPr txBox="1"/>
          <p:nvPr/>
        </p:nvSpPr>
        <p:spPr>
          <a:xfrm>
            <a:off x="2536625" y="1211700"/>
            <a:ext cx="7662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4400">
                <a:solidFill>
                  <a:schemeClr val="dk2"/>
                </a:solidFill>
              </a:rPr>
              <a:t>{</a:t>
            </a:r>
            <a:endParaRPr sz="14400">
              <a:solidFill>
                <a:schemeClr val="dk2"/>
              </a:solidFill>
            </a:endParaRPr>
          </a:p>
        </p:txBody>
      </p:sp>
      <p:sp>
        <p:nvSpPr>
          <p:cNvPr id="555" name="Google Shape;555;p69"/>
          <p:cNvSpPr txBox="1"/>
          <p:nvPr/>
        </p:nvSpPr>
        <p:spPr>
          <a:xfrm>
            <a:off x="3302825" y="1694900"/>
            <a:ext cx="21270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2"/>
                </a:solidFill>
              </a:rPr>
              <a:t>10, wenn goal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2"/>
                </a:solidFill>
              </a:rPr>
              <a:t>-10, wenn loch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2"/>
                </a:solidFill>
              </a:rPr>
              <a:t>-0.1, pro schritt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2"/>
                </a:solidFill>
              </a:rPr>
              <a:t>+ nähe zum Ziel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6" name="Google Shape;556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Extra Reward</a:t>
            </a:r>
            <a:endParaRPr/>
          </a:p>
        </p:txBody>
      </p:sp>
      <p:sp>
        <p:nvSpPr>
          <p:cNvPr id="562" name="Google Shape;562;p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564" name="Google Shape;56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500" y="1574800"/>
            <a:ext cx="2571750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6125" y="1574800"/>
            <a:ext cx="2571750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17750" y="1560513"/>
            <a:ext cx="2600325" cy="26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Deep Q-Learning 8x8 (random lake)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574" name="Google Shape;574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300" y="1253863"/>
            <a:ext cx="8007401" cy="263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Deep Q-Learning 8x8 (random lake)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7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582" name="Google Shape;582;p72" title="dql_random_8x8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723" y="1422373"/>
            <a:ext cx="2787050" cy="278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72" title="dql_random_8x8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1275" y="1422375"/>
            <a:ext cx="2787050" cy="278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Deep Q-Learning 8x8 (random lake)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591" name="Google Shape;59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525" y="1091000"/>
            <a:ext cx="1070171" cy="1070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9453" y="1348826"/>
            <a:ext cx="495456" cy="495471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73"/>
          <p:cNvSpPr/>
          <p:nvPr/>
        </p:nvSpPr>
        <p:spPr>
          <a:xfrm>
            <a:off x="2061652" y="1512609"/>
            <a:ext cx="267300" cy="168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73"/>
          <p:cNvSpPr/>
          <p:nvPr/>
        </p:nvSpPr>
        <p:spPr>
          <a:xfrm>
            <a:off x="3125377" y="1512609"/>
            <a:ext cx="267300" cy="168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5" name="Google Shape;59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3180" y="1091000"/>
            <a:ext cx="1070171" cy="1070170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73"/>
          <p:cNvSpPr/>
          <p:nvPr/>
        </p:nvSpPr>
        <p:spPr>
          <a:xfrm>
            <a:off x="3817238" y="1322287"/>
            <a:ext cx="522056" cy="548568"/>
          </a:xfrm>
          <a:custGeom>
            <a:rect b="b" l="l" r="r" t="t"/>
            <a:pathLst>
              <a:path extrusionOk="0" h="17815" w="16954">
                <a:moveTo>
                  <a:pt x="0" y="10919"/>
                </a:moveTo>
                <a:cubicBezTo>
                  <a:pt x="1871" y="13414"/>
                  <a:pt x="3204" y="17815"/>
                  <a:pt x="6322" y="17815"/>
                </a:cubicBezTo>
                <a:cubicBezTo>
                  <a:pt x="7997" y="17815"/>
                  <a:pt x="8195" y="15021"/>
                  <a:pt x="8908" y="13505"/>
                </a:cubicBezTo>
                <a:cubicBezTo>
                  <a:pt x="11139" y="8763"/>
                  <a:pt x="13249" y="3705"/>
                  <a:pt x="16954" y="0"/>
                </a:cubicBezTo>
              </a:path>
            </a:pathLst>
          </a:cu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97" name="Google Shape;597;p73"/>
          <p:cNvSpPr txBox="1"/>
          <p:nvPr/>
        </p:nvSpPr>
        <p:spPr>
          <a:xfrm>
            <a:off x="2286559" y="1665417"/>
            <a:ext cx="8016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2"/>
                </a:solidFill>
              </a:rPr>
              <a:t>500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598" name="Google Shape;59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525" y="2263062"/>
            <a:ext cx="1070171" cy="1070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9453" y="2520888"/>
            <a:ext cx="495456" cy="495471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73"/>
          <p:cNvSpPr/>
          <p:nvPr/>
        </p:nvSpPr>
        <p:spPr>
          <a:xfrm>
            <a:off x="2061652" y="2684672"/>
            <a:ext cx="267300" cy="168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73"/>
          <p:cNvSpPr/>
          <p:nvPr/>
        </p:nvSpPr>
        <p:spPr>
          <a:xfrm>
            <a:off x="3125377" y="2684672"/>
            <a:ext cx="267300" cy="168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2" name="Google Shape;60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3180" y="2263062"/>
            <a:ext cx="1070171" cy="107017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73"/>
          <p:cNvSpPr/>
          <p:nvPr/>
        </p:nvSpPr>
        <p:spPr>
          <a:xfrm>
            <a:off x="3817238" y="2494349"/>
            <a:ext cx="522056" cy="548568"/>
          </a:xfrm>
          <a:custGeom>
            <a:rect b="b" l="l" r="r" t="t"/>
            <a:pathLst>
              <a:path extrusionOk="0" h="17815" w="16954">
                <a:moveTo>
                  <a:pt x="0" y="10919"/>
                </a:moveTo>
                <a:cubicBezTo>
                  <a:pt x="1871" y="13414"/>
                  <a:pt x="3204" y="17815"/>
                  <a:pt x="6322" y="17815"/>
                </a:cubicBezTo>
                <a:cubicBezTo>
                  <a:pt x="7997" y="17815"/>
                  <a:pt x="8195" y="15021"/>
                  <a:pt x="8908" y="13505"/>
                </a:cubicBezTo>
                <a:cubicBezTo>
                  <a:pt x="11139" y="8763"/>
                  <a:pt x="13249" y="3705"/>
                  <a:pt x="16954" y="0"/>
                </a:cubicBezTo>
              </a:path>
            </a:pathLst>
          </a:cu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04" name="Google Shape;604;p73"/>
          <p:cNvSpPr txBox="1"/>
          <p:nvPr/>
        </p:nvSpPr>
        <p:spPr>
          <a:xfrm>
            <a:off x="2286559" y="2837479"/>
            <a:ext cx="8016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2"/>
                </a:solidFill>
              </a:rPr>
              <a:t>4</a:t>
            </a:r>
            <a:r>
              <a:rPr lang="de" sz="1300">
                <a:solidFill>
                  <a:schemeClr val="dk2"/>
                </a:solidFill>
              </a:rPr>
              <a:t>00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605" name="Google Shape;60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525" y="3446631"/>
            <a:ext cx="1070171" cy="1070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9453" y="3704457"/>
            <a:ext cx="495456" cy="495471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73"/>
          <p:cNvSpPr/>
          <p:nvPr/>
        </p:nvSpPr>
        <p:spPr>
          <a:xfrm>
            <a:off x="2061652" y="3868241"/>
            <a:ext cx="267300" cy="168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73"/>
          <p:cNvSpPr/>
          <p:nvPr/>
        </p:nvSpPr>
        <p:spPr>
          <a:xfrm>
            <a:off x="3125377" y="3868241"/>
            <a:ext cx="267300" cy="168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9" name="Google Shape;60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3180" y="3446631"/>
            <a:ext cx="1070171" cy="107017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73"/>
          <p:cNvSpPr/>
          <p:nvPr/>
        </p:nvSpPr>
        <p:spPr>
          <a:xfrm>
            <a:off x="3817238" y="3677918"/>
            <a:ext cx="522056" cy="548568"/>
          </a:xfrm>
          <a:custGeom>
            <a:rect b="b" l="l" r="r" t="t"/>
            <a:pathLst>
              <a:path extrusionOk="0" h="17815" w="16954">
                <a:moveTo>
                  <a:pt x="0" y="10919"/>
                </a:moveTo>
                <a:cubicBezTo>
                  <a:pt x="1871" y="13414"/>
                  <a:pt x="3204" y="17815"/>
                  <a:pt x="6322" y="17815"/>
                </a:cubicBezTo>
                <a:cubicBezTo>
                  <a:pt x="7997" y="17815"/>
                  <a:pt x="8195" y="15021"/>
                  <a:pt x="8908" y="13505"/>
                </a:cubicBezTo>
                <a:cubicBezTo>
                  <a:pt x="11139" y="8763"/>
                  <a:pt x="13249" y="3705"/>
                  <a:pt x="16954" y="0"/>
                </a:cubicBezTo>
              </a:path>
            </a:pathLst>
          </a:cu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11" name="Google Shape;611;p73"/>
          <p:cNvSpPr txBox="1"/>
          <p:nvPr/>
        </p:nvSpPr>
        <p:spPr>
          <a:xfrm>
            <a:off x="2286559" y="4021048"/>
            <a:ext cx="8016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2"/>
                </a:solidFill>
              </a:rPr>
              <a:t>3</a:t>
            </a:r>
            <a:r>
              <a:rPr lang="de" sz="1300">
                <a:solidFill>
                  <a:schemeClr val="dk2"/>
                </a:solidFill>
              </a:rPr>
              <a:t>00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Deep Q-Learning 8x8 (random lake)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619" name="Google Shape;61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7475" y="1825300"/>
            <a:ext cx="2937776" cy="226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2251" y="1659175"/>
            <a:ext cx="3180525" cy="259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Deep Q-Learning 8x8 (random lake)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7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/>
              <a:t>Warum traut er sich nicht weiter in den Lake?</a:t>
            </a:r>
            <a:endParaRPr sz="20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627" name="Google Shape;627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Deep Q-Learning 8x8 (random lake)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/>
              <a:t>Warum traut er sich nicht weiter in den Lake?</a:t>
            </a:r>
            <a:endParaRPr sz="20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de" sz="2000"/>
              <a:t>→ “sieht” er den Lake nicht richtig?</a:t>
            </a:r>
            <a:endParaRPr sz="2000"/>
          </a:p>
        </p:txBody>
      </p:sp>
      <p:sp>
        <p:nvSpPr>
          <p:cNvPr id="634" name="Google Shape;634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Deep Q-Learning 8x8 (random lake)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7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graphicFrame>
        <p:nvGraphicFramePr>
          <p:cNvPr id="642" name="Google Shape;642;p77"/>
          <p:cNvGraphicFramePr/>
          <p:nvPr/>
        </p:nvGraphicFramePr>
        <p:xfrm>
          <a:off x="574450" y="16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{FCC05D6E-E217-4F37-A52B-851C280F2EF5}</a:tableStyleId>
              </a:tblPr>
              <a:tblGrid>
                <a:gridCol w="609600"/>
                <a:gridCol w="609600"/>
                <a:gridCol w="609600"/>
                <a:gridCol w="609600"/>
              </a:tblGrid>
              <a:tr h="6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0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-1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0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1</a:t>
                      </a:r>
                      <a:endParaRPr b="1" sz="1900"/>
                    </a:p>
                  </a:txBody>
                  <a:tcPr marT="91425" marB="91425" marR="91425" marL="91425" anchor="ctr"/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0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0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0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0</a:t>
                      </a:r>
                      <a:endParaRPr b="1" sz="1900"/>
                    </a:p>
                  </a:txBody>
                  <a:tcPr marT="91425" marB="91425" marR="91425" marL="91425" anchor="ctr"/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0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0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-1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0</a:t>
                      </a:r>
                      <a:endParaRPr b="1" sz="1900"/>
                    </a:p>
                  </a:txBody>
                  <a:tcPr marT="91425" marB="91425" marR="91425" marL="91425" anchor="ctr"/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0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-1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0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2</a:t>
                      </a:r>
                      <a:endParaRPr b="1" sz="19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43" name="Google Shape;643;p77"/>
          <p:cNvGraphicFramePr/>
          <p:nvPr/>
        </p:nvGraphicFramePr>
        <p:xfrm>
          <a:off x="6268425" y="853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{FCC05D6E-E217-4F37-A52B-851C280F2EF5}</a:tableStyleId>
              </a:tblPr>
              <a:tblGrid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500"/>
                        <a:t>0</a:t>
                      </a:r>
                      <a:endParaRPr b="1" sz="15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500"/>
                        <a:t>-1</a:t>
                      </a:r>
                      <a:endParaRPr b="1" sz="15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500"/>
                        <a:t>0</a:t>
                      </a:r>
                      <a:endParaRPr b="1" sz="15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500"/>
                        <a:t>1</a:t>
                      </a:r>
                      <a:endParaRPr b="1" sz="15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500"/>
                        <a:t>0</a:t>
                      </a:r>
                      <a:endParaRPr b="1" sz="15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500"/>
                        <a:t>…</a:t>
                      </a:r>
                      <a:endParaRPr b="1" sz="15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500"/>
                        <a:t>0</a:t>
                      </a:r>
                      <a:endParaRPr b="1" sz="15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500"/>
                        <a:t>-1</a:t>
                      </a:r>
                      <a:endParaRPr b="1" sz="15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500"/>
                        <a:t>0</a:t>
                      </a:r>
                      <a:endParaRPr b="1" sz="15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500"/>
                        <a:t>2</a:t>
                      </a:r>
                      <a:endParaRPr b="1" sz="15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644" name="Google Shape;644;p77"/>
          <p:cNvSpPr/>
          <p:nvPr/>
        </p:nvSpPr>
        <p:spPr>
          <a:xfrm>
            <a:off x="4017100" y="2538700"/>
            <a:ext cx="1099200" cy="66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Deep Q-Learning 8x8 (random lake)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7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graphicFrame>
        <p:nvGraphicFramePr>
          <p:cNvPr id="652" name="Google Shape;652;p78"/>
          <p:cNvGraphicFramePr/>
          <p:nvPr/>
        </p:nvGraphicFramePr>
        <p:xfrm>
          <a:off x="574450" y="164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{FCC05D6E-E217-4F37-A52B-851C280F2EF5}</a:tableStyleId>
              </a:tblPr>
              <a:tblGrid>
                <a:gridCol w="609600"/>
                <a:gridCol w="609600"/>
                <a:gridCol w="609600"/>
                <a:gridCol w="609600"/>
              </a:tblGrid>
              <a:tr h="6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0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-1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0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1</a:t>
                      </a:r>
                      <a:endParaRPr b="1" sz="1900"/>
                    </a:p>
                  </a:txBody>
                  <a:tcPr marT="91425" marB="91425" marR="91425" marL="91425" anchor="ctr"/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0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0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0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0</a:t>
                      </a:r>
                      <a:endParaRPr b="1" sz="1900"/>
                    </a:p>
                  </a:txBody>
                  <a:tcPr marT="91425" marB="91425" marR="91425" marL="91425" anchor="ctr"/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0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0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-1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0</a:t>
                      </a:r>
                      <a:endParaRPr b="1" sz="1900"/>
                    </a:p>
                  </a:txBody>
                  <a:tcPr marT="91425" marB="91425" marR="91425" marL="91425" anchor="ctr"/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0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-1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0</a:t>
                      </a:r>
                      <a:endParaRPr b="1" sz="19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900"/>
                        <a:t>2</a:t>
                      </a:r>
                      <a:endParaRPr b="1" sz="19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653" name="Google Shape;653;p78"/>
          <p:cNvSpPr/>
          <p:nvPr/>
        </p:nvSpPr>
        <p:spPr>
          <a:xfrm>
            <a:off x="3489725" y="2495600"/>
            <a:ext cx="1099200" cy="66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54" name="Google Shape;654;p78"/>
          <p:cNvGraphicFramePr/>
          <p:nvPr/>
        </p:nvGraphicFramePr>
        <p:xfrm>
          <a:off x="5065800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{FCC05D6E-E217-4F37-A52B-851C280F2EF5}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9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1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</a:tr>
              <a:tr h="19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</a:tr>
              <a:tr h="19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1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</a:tr>
              <a:tr h="19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1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55" name="Google Shape;655;p78"/>
          <p:cNvGraphicFramePr/>
          <p:nvPr/>
        </p:nvGraphicFramePr>
        <p:xfrm>
          <a:off x="7062850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{FCC05D6E-E217-4F37-A52B-851C280F2EF5}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9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1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1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1</a:t>
                      </a:r>
                      <a:endParaRPr b="1" sz="1200"/>
                    </a:p>
                  </a:txBody>
                  <a:tcPr marT="91425" marB="91425" marR="91425" marL="91425" anchor="ctr"/>
                </a:tc>
              </a:tr>
              <a:tr h="19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1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1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1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1</a:t>
                      </a:r>
                      <a:endParaRPr b="1" sz="1200"/>
                    </a:p>
                  </a:txBody>
                  <a:tcPr marT="91425" marB="91425" marR="91425" marL="91425" anchor="ctr"/>
                </a:tc>
              </a:tr>
              <a:tr h="19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1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1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1</a:t>
                      </a:r>
                      <a:endParaRPr b="1" sz="1200"/>
                    </a:p>
                  </a:txBody>
                  <a:tcPr marT="91425" marB="91425" marR="91425" marL="91425" anchor="ctr"/>
                </a:tc>
              </a:tr>
              <a:tr h="19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1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1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1</a:t>
                      </a:r>
                      <a:endParaRPr b="1" sz="12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56" name="Google Shape;656;p78"/>
          <p:cNvGraphicFramePr/>
          <p:nvPr/>
        </p:nvGraphicFramePr>
        <p:xfrm>
          <a:off x="5065800" y="310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{FCC05D6E-E217-4F37-A52B-851C280F2EF5}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9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1</a:t>
                      </a:r>
                      <a:endParaRPr b="1" sz="1200"/>
                    </a:p>
                  </a:txBody>
                  <a:tcPr marT="91425" marB="91425" marR="91425" marL="91425" anchor="ctr"/>
                </a:tc>
              </a:tr>
              <a:tr h="19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</a:tr>
              <a:tr h="19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</a:tr>
              <a:tr h="19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657" name="Google Shape;657;p78"/>
          <p:cNvGraphicFramePr/>
          <p:nvPr/>
        </p:nvGraphicFramePr>
        <p:xfrm>
          <a:off x="7062850" y="310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{FCC05D6E-E217-4F37-A52B-851C280F2EF5}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19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</a:tr>
              <a:tr h="19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</a:tr>
              <a:tr h="19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</a:tr>
              <a:tr h="193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0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/>
                        <a:t>1</a:t>
                      </a:r>
                      <a:endParaRPr b="1" sz="12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CNN Deep Q-Learning 8x8 (random lake)</a:t>
            </a:r>
            <a:endParaRPr/>
          </a:p>
        </p:txBody>
      </p:sp>
      <p:sp>
        <p:nvSpPr>
          <p:cNvPr id="663" name="Google Shape;663;p7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sp>
        <p:nvSpPr>
          <p:cNvPr id="665" name="Google Shape;665;p79"/>
          <p:cNvSpPr txBox="1"/>
          <p:nvPr>
            <p:ph idx="1" type="body"/>
          </p:nvPr>
        </p:nvSpPr>
        <p:spPr>
          <a:xfrm>
            <a:off x="743550" y="1133875"/>
            <a:ext cx="7656900" cy="3453600"/>
          </a:xfrm>
          <a:prstGeom prst="rect">
            <a:avLst/>
          </a:prstGeom>
          <a:solidFill>
            <a:srgbClr val="EFEFEF"/>
          </a:solidFill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267F99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DQN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1050">
                <a:solidFill>
                  <a:srgbClr val="267F99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nn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1050">
                <a:solidFill>
                  <a:srgbClr val="267F99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Module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795E26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__init__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lake_size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in_channels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out_actions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267F99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lang="de" sz="1050">
                <a:solidFill>
                  <a:srgbClr val="795E26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__init__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.conv1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nn.Conv2d(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in_channels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in_channels, 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out_channels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098658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32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kernel_size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098658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stride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098658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padding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098658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.conv2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nn.Conv2d(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in_channels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098658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32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out_channels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098658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64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kernel_size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098658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stride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098658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padding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098658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.fc1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nn.Linear(</a:t>
            </a:r>
            <a:r>
              <a:rPr lang="de" sz="1050">
                <a:solidFill>
                  <a:srgbClr val="098658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64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lake_size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lake_size, </a:t>
            </a:r>
            <a:r>
              <a:rPr lang="de" sz="1050">
                <a:solidFill>
                  <a:srgbClr val="098658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128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.out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nn.Linear(</a:t>
            </a:r>
            <a:r>
              <a:rPr lang="de" sz="1050">
                <a:solidFill>
                  <a:srgbClr val="098658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128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 out_actions)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795E26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forward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1050">
                <a:solidFill>
                  <a:srgbClr val="001080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x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F.relu(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.conv1(x))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x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F.relu(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.conv2(x))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x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nn.Flatten()(x)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x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F.relu(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.fc1(x))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x </a:t>
            </a:r>
            <a:r>
              <a:rPr lang="de" sz="105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0000FF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.out(x)</a:t>
            </a:r>
            <a:endParaRPr sz="1050">
              <a:solidFill>
                <a:srgbClr val="3B3B3B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AF00D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de" sz="1050">
                <a:solidFill>
                  <a:srgbClr val="3B3B3B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x</a:t>
            </a:r>
            <a:endParaRPr sz="1050">
              <a:solidFill>
                <a:srgbClr val="0000FF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CNN Deep Q-Learning 8x8 (random lake)</a:t>
            </a:r>
            <a:endParaRPr/>
          </a:p>
        </p:txBody>
      </p:sp>
      <p:sp>
        <p:nvSpPr>
          <p:cNvPr id="671" name="Google Shape;671;p80"/>
          <p:cNvSpPr txBox="1"/>
          <p:nvPr>
            <p:ph idx="1" type="body"/>
          </p:nvPr>
        </p:nvSpPr>
        <p:spPr>
          <a:xfrm>
            <a:off x="311700" y="1209950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Input (B x </a:t>
            </a:r>
            <a:r>
              <a:rPr b="1" lang="de" sz="913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x </a:t>
            </a:r>
            <a:r>
              <a:rPr b="1" lang="de" sz="913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x </a:t>
            </a:r>
            <a:r>
              <a:rPr b="1" lang="de" sz="913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913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│</a:t>
            </a:r>
            <a:endParaRPr b="1" sz="913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┌──────────▼─────────┐</a:t>
            </a:r>
            <a:endParaRPr b="1" sz="913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│  Conv2d(</a:t>
            </a:r>
            <a:r>
              <a:rPr b="1" lang="de" sz="913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→ </a:t>
            </a:r>
            <a:r>
              <a:rPr b="1" lang="de" sz="913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32</a:t>
            </a: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   │  → [B, </a:t>
            </a:r>
            <a:r>
              <a:rPr b="1" lang="de" sz="913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32</a:t>
            </a: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de" sz="913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de" sz="913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1" sz="913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└──────────▲─────────┘</a:t>
            </a:r>
            <a:endParaRPr b="1" sz="913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│ ReLU</a:t>
            </a:r>
            <a:endParaRPr b="1" sz="913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┌──────────▼─────────┐</a:t>
            </a:r>
            <a:endParaRPr b="1" sz="913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│  Conv2d(</a:t>
            </a:r>
            <a:r>
              <a:rPr b="1" lang="de" sz="913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32</a:t>
            </a: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→ </a:t>
            </a:r>
            <a:r>
              <a:rPr b="1" lang="de" sz="913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64</a:t>
            </a: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  │  → [B, </a:t>
            </a:r>
            <a:r>
              <a:rPr b="1" lang="de" sz="913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64</a:t>
            </a: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de" sz="913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de" sz="913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1" sz="913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└──────────▲─────────┘</a:t>
            </a:r>
            <a:endParaRPr b="1" sz="913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│ ReLU</a:t>
            </a:r>
            <a:endParaRPr b="1" sz="913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┌──────────▼─────────┐</a:t>
            </a:r>
            <a:endParaRPr b="1" sz="913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│  </a:t>
            </a: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Flatten      │  → [B, </a:t>
            </a:r>
            <a:r>
              <a:rPr b="1" lang="de" sz="913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4096</a:t>
            </a: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1" sz="913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└─────────</a:t>
            </a: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─</a:t>
            </a: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▲─────────┘</a:t>
            </a:r>
            <a:endParaRPr b="1" sz="913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│</a:t>
            </a:r>
            <a:endParaRPr b="1" sz="913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┌──────────▼─────────┐</a:t>
            </a:r>
            <a:endParaRPr b="1" sz="913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│ Linear(</a:t>
            </a:r>
            <a:r>
              <a:rPr b="1" lang="de" sz="913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4096</a:t>
            </a: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→ </a:t>
            </a:r>
            <a:r>
              <a:rPr b="1" lang="de" sz="913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128</a:t>
            </a: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│</a:t>
            </a:r>
            <a:endParaRPr b="1" sz="913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└──────────▲─────────┘</a:t>
            </a:r>
            <a:endParaRPr b="1" sz="913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│ ReLU</a:t>
            </a:r>
            <a:endParaRPr b="1" sz="913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┌──────────▼─────────┐</a:t>
            </a:r>
            <a:endParaRPr b="1" sz="913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│ Linear(</a:t>
            </a:r>
            <a:r>
              <a:rPr b="1" lang="de" sz="913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128</a:t>
            </a: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→ </a:t>
            </a:r>
            <a:r>
              <a:rPr b="1" lang="de" sz="913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   │</a:t>
            </a:r>
            <a:endParaRPr b="1" sz="913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lang="de" sz="913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└────────────────────┘</a:t>
            </a:r>
            <a:endParaRPr b="1" sz="913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b="1" sz="1495"/>
          </a:p>
        </p:txBody>
      </p:sp>
      <p:sp>
        <p:nvSpPr>
          <p:cNvPr id="672" name="Google Shape;672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Deep Q-Learning 8x8 (random lake)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8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Training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de"/>
              <a:t>5.000 Episoden</a:t>
            </a:r>
            <a:endParaRPr/>
          </a:p>
        </p:txBody>
      </p:sp>
      <p:sp>
        <p:nvSpPr>
          <p:cNvPr id="679" name="Google Shape;679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680" name="Google Shape;680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3" y="1686450"/>
            <a:ext cx="2011675" cy="201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CNN Deep Q-Learning 8x8 (random lake)</a:t>
            </a:r>
            <a:endParaRPr/>
          </a:p>
        </p:txBody>
      </p:sp>
      <p:sp>
        <p:nvSpPr>
          <p:cNvPr id="686" name="Google Shape;686;p82"/>
          <p:cNvSpPr txBox="1"/>
          <p:nvPr>
            <p:ph idx="1" type="body"/>
          </p:nvPr>
        </p:nvSpPr>
        <p:spPr>
          <a:xfrm>
            <a:off x="311700" y="1209950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b="1" sz="1495"/>
          </a:p>
        </p:txBody>
      </p:sp>
      <p:sp>
        <p:nvSpPr>
          <p:cNvPr id="687" name="Google Shape;687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688" name="Google Shape;688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13925"/>
            <a:ext cx="8520601" cy="2808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CNN Deep Q-Learning 8x8 (random lake)</a:t>
            </a:r>
            <a:endParaRPr/>
          </a:p>
        </p:txBody>
      </p:sp>
      <p:sp>
        <p:nvSpPr>
          <p:cNvPr id="694" name="Google Shape;694;p83"/>
          <p:cNvSpPr txBox="1"/>
          <p:nvPr>
            <p:ph idx="1" type="body"/>
          </p:nvPr>
        </p:nvSpPr>
        <p:spPr>
          <a:xfrm>
            <a:off x="311700" y="1209950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b="1" sz="1495"/>
          </a:p>
        </p:txBody>
      </p:sp>
      <p:sp>
        <p:nvSpPr>
          <p:cNvPr id="695" name="Google Shape;695;p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696" name="Google Shape;696;p83" title="dql_fixed_8x8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0789" y="1111110"/>
            <a:ext cx="1815693" cy="1815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83" title="dql_fixed_8x8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7508" y="1111110"/>
            <a:ext cx="1815693" cy="1815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83" title="dql_fixed_8x8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30788" y="3375036"/>
            <a:ext cx="1815693" cy="1815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83" title="dql_fixed_8x8.gi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97508" y="3375036"/>
            <a:ext cx="1815693" cy="1815689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83"/>
          <p:cNvSpPr txBox="1"/>
          <p:nvPr/>
        </p:nvSpPr>
        <p:spPr>
          <a:xfrm>
            <a:off x="2529150" y="1111100"/>
            <a:ext cx="4085700" cy="40845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